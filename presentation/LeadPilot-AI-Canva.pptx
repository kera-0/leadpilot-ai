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ИИ-ПРОДАВЕЦ ДЛЯ ОБРАЗОВАНИЯ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От первого сообщения</a:t>
            </a:r>
          </a:p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до следующего шага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F4F7FC"/>
                </a:solidFill>
                <a:latin typeface="Arial"/>
              </a:defRPr>
            </a:pPr>
            <a:r>
              <a:t>Квалификация клиента → подбор обучения →</a:t>
            </a:r>
          </a:p>
          <a:p>
            <a:pPr>
              <a:spcAft>
                <a:spcPts val="1200"/>
              </a:spcAft>
              <a:defRPr sz="2700" b="0">
                <a:solidFill>
                  <a:srgbClr val="F4F7FC"/>
                </a:solidFill>
                <a:latin typeface="Arial"/>
              </a:defRPr>
            </a:pPr>
            <a:r>
              <a:t>консультация → оплата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CBBD0"/>
                </a:solidFill>
                <a:latin typeface="Arial"/>
              </a:defRPr>
            </a:pPr>
            <a:r>
              <a:t>Уже есть Telegram MVP. Полная воронка — план развития.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560320"/>
            <a:ext cx="3063240" cy="301752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88036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01  Узнать цель</a:t>
            </a:r>
          </a:p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02  Подобрать</a:t>
            </a:r>
          </a:p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03  Передать</a:t>
            </a:r>
          </a:p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04  Довести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ПРОДУКТОВАЯ КОНЦЕПЦИЯ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Каждое обращение должно получать продолжение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Входящие из разных каналов.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Повторяющиеся вопросы.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Лиды теряются без следующего шага.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Ассистент собирает контекст, предлагает релевантный продукт и помогает перейти к действию.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Роль человека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Сложные вопросы, жалобы и нестандартные условия остаются у менеджера.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ЦЕЛЕВАЯ ВЕРСИЯ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Как выглядит целевая воронка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01 / Диалог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Приветствие и согласие.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Цель, проблема, уровень.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По 1–2 вопроса за сообщение.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02 / Подбор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Конкретный тариф из базы.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Результат для клиента.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Уточнение возражений.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03 / Действие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2–3 свободных слота.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Запись и ссылка на оплату.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Онбординг после покупки.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РЕАЛИЗОВАНО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MVP уже собирает заявку в Telegram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Диалог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Кнопки с вариантами.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Семь вопросов по очереди.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Согласие до сохранения.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SQLite: ответы, история, статус.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Каталог продуктов в JSON.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Подбор по точному совпадению цели.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Менеджер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Передача ID и контекста.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Эскалация по запросу, жалобе или возврату.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4 автотеста прошли.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CBBD0"/>
                </a:solidFill>
                <a:latin typeface="Arial"/>
              </a:defRPr>
            </a:pPr>
            <a:r>
              <a:t>Текущая версия сценарная: языковая модель, оплата и бронирование ещё не подключены.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ИЛЛЮСТРАЦИЯ СЦЕНАРИЯ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Пример короткого диалога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6766560" cy="35204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6217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F4F7FC"/>
                </a:solidFill>
                <a:latin typeface="Arial"/>
              </a:defRPr>
            </a:pPr>
            <a:r>
              <a:t>Бот: Какая у вас цель?</a:t>
            </a:r>
          </a:p>
          <a:p>
            <a:pPr>
              <a:spcAft>
                <a:spcPts val="1200"/>
              </a:spcAft>
              <a:defRPr sz="2400" b="0">
                <a:solidFill>
                  <a:srgbClr val="F4F7FC"/>
                </a:solidFill>
                <a:latin typeface="Arial"/>
              </a:defRPr>
            </a:pPr>
            <a:r>
              <a:t>Клиент: Для работы</a:t>
            </a:r>
          </a:p>
          <a:p>
            <a:pPr>
              <a:spcAft>
                <a:spcPts val="1200"/>
              </a:spcAft>
              <a:defRPr sz="2400" b="0">
                <a:solidFill>
                  <a:srgbClr val="F4F7FC"/>
                </a:solidFill>
                <a:latin typeface="Arial"/>
              </a:defRPr>
            </a:pPr>
            <a:r>
              <a:t>Бот: Что сейчас мешает достичь этой цели?</a:t>
            </a:r>
          </a:p>
          <a:p>
            <a:pPr>
              <a:spcAft>
                <a:spcPts val="1200"/>
              </a:spcAft>
              <a:defRPr sz="2400" b="0">
                <a:solidFill>
                  <a:srgbClr val="F4F7FC"/>
                </a:solidFill>
                <a:latin typeface="Arial"/>
              </a:defRPr>
            </a:pPr>
            <a:r>
              <a:t>Клиент: Нет практики</a:t>
            </a:r>
          </a:p>
          <a:p>
            <a:pPr>
              <a:spcAft>
                <a:spcPts val="1200"/>
              </a:spcAft>
              <a:defRPr sz="2400" b="0">
                <a:solidFill>
                  <a:srgbClr val="F4F7FC"/>
                </a:solidFill>
                <a:latin typeface="Arial"/>
              </a:defRPr>
            </a:pPr>
            <a:r>
              <a:t>Бот: Какой у вас опыт?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72E3BB"/>
                </a:solidFill>
                <a:latin typeface="Arial"/>
              </a:defRPr>
            </a:pPr>
            <a:r>
              <a:t>Ответить можно кнопкой или текстом.</a:t>
            </a:r>
          </a:p>
          <a:p>
            <a:pPr>
              <a:spcAft>
                <a:spcPts val="1200"/>
              </a:spcAft>
              <a:defRPr sz="2300" b="0">
                <a:solidFill>
                  <a:srgbClr val="72E3BB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72E3BB"/>
                </a:solidFill>
                <a:latin typeface="Arial"/>
              </a:defRPr>
            </a:pPr>
            <a:r>
              <a:t>После квалификации — предложение из каталога либо заявка менеджеру.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ПЛАН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Каналы и интеграции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Каналы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Сейчас: Telegram.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Далее: WhatsApp, Instagram Direct, сайт и обращения из рекламы.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Продажи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CRM: сделка, теги, этапы.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Календарь: доступность и запись.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Платежи: ссылка и статус.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Знания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Программа и тарифы.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Формат и преподаватели.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FAQ и подтверждённые отзывы.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ПРИМЕРЫ ДЛЯ БУДУЩЕЙ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Возражение → уточнение → следующий шаг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«Дорого»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 каким бюджетом сравниваете?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Объяснить ценность по базе знаний.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Предложить подходящий тариф, если он есть.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«Нет времени»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Сколько времени готовы выделять?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Показать подтверждённую нагрузку.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Обсудить подходящий формат.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«Подумаю»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Что важно уточнить перед решением?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Ответить на конкретный вопрос.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Согласовать следующий контакт.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ПЛАН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Продолжать общение с разрешения клиента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Дни 1 / 3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Уточнить вопрос.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Предложить полезный материал.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Спросить, актуальна ли задача.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В каждом касании — отказ от сообщений.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После пробного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Собрать впечатления.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Выяснить препятствие покупке.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Помочь выбрать следующий шаг.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После оплаты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Доступы и расписание.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Отзыв / NPS.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Продление и реферальная программа по правилам бизнеса.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ПРОДУКТОВАЯ КОНЦЕПЦИЯ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Доверие важнее выдуманного ответа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Факты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Цены и условия только из базы.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Если данных нет — менеджер.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Автоматическая природа ассистента обозначена.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Общение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План: короткие сообщения, язык клиента, понимание опечаток и голоса.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Сейчас: русский текст.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Контроль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Жалобы и возвраты — человеку.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Локальные данные: /delete.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Остановка диалога: /stop.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Хранение и доступ настраивает оператор.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ЦЕЛИ — НЕ ДОСТИГНУТЫЕ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Что измеряем на пилоте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&lt; 30 сек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Целевое время первого ответа.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Измерять на реальном хостинге и нагрузке.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Воронка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Диалог → заявка.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Заявка → оплата.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Реактивация спящих лидов.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Цели конверсии — после базового замера.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10–20%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Исходный ориентир передачи человеку.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Уточнить по пилоту: в MVP большинство продаж завершает менеджер.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КРИТЕРИИ ПОЛНОЙ ВЕРСИИ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Как принимать и развивать продукт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Приёмка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50 тестовых диалогов.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0 выдуманных фактов.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≥80% верных квалификаций.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≥90% корректных записей после интеграции календаря.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Качество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20–30 диалогов на ручной разбор еженедельно.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Причины отказов и провалов.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Обновление базы знаний.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Ответственность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Назначить владельца процесса.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Утверждать тарифы и сценарии.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Контролировать передачу менеджеру и хранение данных.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72E3BB"/>
                </a:solidFill>
                <a:latin typeface="Arial"/>
              </a:defRPr>
            </a:pPr>
            <a:r>
              <a:t>LEADPILOT AI  /  ПЛАН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4F7FC"/>
                </a:solidFill>
                <a:latin typeface="Arial"/>
              </a:defRPr>
            </a:pPr>
            <a:r>
              <a:t>Следующий шаг — запустить управляемый пилот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345936"/>
            <a:ext cx="10972800" cy="13716"/>
          </a:xfrm>
          <a:prstGeom prst="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37376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CBBD0"/>
                </a:solidFill>
                <a:latin typeface="Arial"/>
              </a:defRPr>
            </a:pPr>
            <a:r>
              <a:t>Концепция и MVP • октябрь 2026 • github.com/Kera-0/LeadPilot-AI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2E3B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01 / Подготовить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Токен Telegram и чат менеджера.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Реальный каталог продуктов.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Условия обработки данных.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02 / Проверить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7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Пройти сценарии командой.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Проверить уведомления.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Добавить очередь доставки и мониторинг перед потоком клиентов.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1960" y="2331720"/>
            <a:ext cx="3505200" cy="333756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04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72E3BB"/>
                </a:solidFill>
                <a:latin typeface="Arial"/>
              </a:defRPr>
            </a:pPr>
            <a:r>
              <a:t>03 / Расширить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355848"/>
            <a:ext cx="3048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LLM и база знаний.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CRM и календарь.</a:t>
            </a:r>
          </a:p>
          <a:p>
            <a:pPr>
              <a:spcAft>
                <a:spcPts val="1200"/>
              </a:spcAft>
              <a:defRPr sz="1900" b="0">
                <a:solidFill>
                  <a:srgbClr val="F4F7FC"/>
                </a:solidFill>
                <a:latin typeface="Arial"/>
              </a:defRPr>
            </a:pPr>
            <a:r>
              <a:t>Платежи, аналитика и новые каналы.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